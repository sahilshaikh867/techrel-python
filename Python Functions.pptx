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Keywords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def-keywor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def-keywor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default-arguments-in-pyth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args-kwargs-pyth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inner-function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geeksforgeeks.org/python/python-return-statemen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IN" b="1" dirty="0"/>
              <a:t>Python Functions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1D6DBD-2C7C-2A5F-06E1-96C1B9B4AA19}"/>
              </a:ext>
            </a:extLst>
          </p:cNvPr>
          <p:cNvSpPr txBox="1"/>
          <p:nvPr/>
        </p:nvSpPr>
        <p:spPr>
          <a:xfrm>
            <a:off x="695225" y="462341"/>
            <a:ext cx="111071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spc="12" dirty="0">
                <a:solidFill>
                  <a:schemeClr val="bg2">
                    <a:lumMod val="10000"/>
                  </a:schemeClr>
                </a:solidFill>
                <a:effectLst/>
                <a:latin typeface="+mj-lt"/>
              </a:rPr>
              <a:t>Python functions are reusable blocks of code used to perform a specific task. They help organize programs into smaller sections and execute the same logic whenever needed by calling the function.</a:t>
            </a:r>
            <a:endParaRPr lang="en-IN" sz="20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EF1CC4-16B0-8602-28E2-7F5F0CC52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361" y="1972930"/>
            <a:ext cx="8291278" cy="40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B21E48-B8CD-4D7B-D174-C440EDA3249E}"/>
              </a:ext>
            </a:extLst>
          </p:cNvPr>
          <p:cNvSpPr txBox="1"/>
          <p:nvPr/>
        </p:nvSpPr>
        <p:spPr>
          <a:xfrm>
            <a:off x="417136" y="446025"/>
            <a:ext cx="11451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buNone/>
            </a:pPr>
            <a:r>
              <a:rPr lang="en-IN" sz="1800" b="1" i="0" spc="12" dirty="0">
                <a:solidFill>
                  <a:schemeClr val="tx1"/>
                </a:solidFill>
                <a:effectLst/>
                <a:latin typeface="+mj-lt"/>
              </a:rPr>
              <a:t>Defining a Function</a:t>
            </a:r>
            <a:endParaRPr lang="en-IN" sz="1800" b="1" i="0" spc="0" dirty="0">
              <a:solidFill>
                <a:schemeClr val="tx1"/>
              </a:solidFill>
              <a:effectLst/>
              <a:latin typeface="+mj-lt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800" b="1" i="0" spc="12" dirty="0">
                <a:solidFill>
                  <a:schemeClr val="tx1"/>
                </a:solidFill>
                <a:effectLst/>
                <a:latin typeface="+mj-lt"/>
              </a:rPr>
              <a:t>A function can be defined using </a:t>
            </a:r>
            <a:r>
              <a:rPr lang="en-IN" sz="1800" b="1" i="0" u="sng" spc="12" dirty="0">
                <a:solidFill>
                  <a:schemeClr val="tx1"/>
                </a:solidFill>
                <a:effectLst/>
                <a:latin typeface="+mj-lt"/>
                <a:hlinkClick r:id="rId3"/>
              </a:rPr>
              <a:t>def keyword</a:t>
            </a:r>
            <a:r>
              <a:rPr lang="en-IN" sz="1800" b="1" i="0" spc="12" dirty="0">
                <a:solidFill>
                  <a:schemeClr val="tx1"/>
                </a:solidFill>
                <a:effectLst/>
                <a:latin typeface="+mj-lt"/>
              </a:rPr>
              <a:t>. Below is the syntax to define a function:</a:t>
            </a:r>
            <a:endParaRPr lang="en-IN" sz="1350" b="1" i="0" spc="10" dirty="0">
              <a:solidFill>
                <a:srgbClr val="273239"/>
              </a:solidFill>
              <a:effectLst/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037E57-3149-22DC-52BF-5C253211C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73" y="1508966"/>
            <a:ext cx="10706296" cy="503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53C085C-7510-D876-871A-D8DBBECF0D72}"/>
              </a:ext>
            </a:extLst>
          </p:cNvPr>
          <p:cNvSpPr txBox="1"/>
          <p:nvPr/>
        </p:nvSpPr>
        <p:spPr>
          <a:xfrm>
            <a:off x="280446" y="405961"/>
            <a:ext cx="11135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spc="12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 we define a </a:t>
            </a:r>
            <a:r>
              <a:rPr lang="en-IN" sz="1800" b="1" i="0" spc="12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dobe Fan Heiti Std B" panose="020B0700000000000000" pitchFamily="34" charset="-128"/>
                <a:cs typeface="Times New Roman" panose="02020603050405020304" pitchFamily="18" charset="0"/>
              </a:rPr>
              <a:t>function</a:t>
            </a:r>
            <a:r>
              <a:rPr lang="en-IN" sz="1800" b="1" i="0" spc="12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1800" b="1" i="0" u="sng" spc="12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def </a:t>
            </a:r>
            <a:r>
              <a:rPr lang="en-IN" sz="1800" b="1" i="0" spc="12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prints a welcome message when called.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96A03C-A08B-1EE6-88EE-DEE1744A450F}"/>
              </a:ext>
            </a:extLst>
          </p:cNvPr>
          <p:cNvSpPr txBox="1"/>
          <p:nvPr/>
        </p:nvSpPr>
        <p:spPr>
          <a:xfrm>
            <a:off x="480767" y="970961"/>
            <a:ext cx="3074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fun():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print("Welcome to CLASS")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93742-652D-C130-8125-1CC8919145E0}"/>
              </a:ext>
            </a:extLst>
          </p:cNvPr>
          <p:cNvSpPr txBox="1"/>
          <p:nvPr/>
        </p:nvSpPr>
        <p:spPr>
          <a:xfrm>
            <a:off x="493460" y="2171570"/>
            <a:ext cx="11698540" cy="310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97222"/>
              </a:lnSpc>
              <a:buNone/>
            </a:pPr>
            <a:r>
              <a:rPr lang="en-IN" sz="28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Calling a Function</a:t>
            </a:r>
            <a:endParaRPr lang="en-IN" sz="2800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After creating a function, call it by using the name of the functions followed by parenthesis containing parameters of that particular function.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pc="12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"Welcome to </a:t>
            </a:r>
            <a:r>
              <a:rPr lang="en-IN" spc="12" dirty="0">
                <a:solidFill>
                  <a:srgbClr val="AA1111"/>
                </a:solidFill>
                <a:latin typeface="Consolas" panose="020B0609020204030204" pitchFamily="49" charset="0"/>
              </a:rPr>
              <a:t>CLASS</a:t>
            </a:r>
            <a:r>
              <a:rPr lang="en-IN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fun()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b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b="0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Welcome to </a:t>
            </a:r>
            <a:r>
              <a:rPr lang="en-IN" spc="10" dirty="0">
                <a:solidFill>
                  <a:srgbClr val="273239"/>
                </a:solidFill>
                <a:latin typeface="Consolas" panose="020B0609020204030204" pitchFamily="49" charset="0"/>
              </a:rPr>
              <a:t>CLASS</a:t>
            </a:r>
            <a:endParaRPr lang="en-IN" b="0" i="0" spc="1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FA5BF-9157-EF3C-A52E-338A08B8E9A7}"/>
              </a:ext>
            </a:extLst>
          </p:cNvPr>
          <p:cNvSpPr txBox="1"/>
          <p:nvPr/>
        </p:nvSpPr>
        <p:spPr>
          <a:xfrm>
            <a:off x="402996" y="438714"/>
            <a:ext cx="7232716" cy="514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97222"/>
              </a:lnSpc>
              <a:buNone/>
            </a:pPr>
            <a:r>
              <a:rPr lang="en-IN" sz="28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Function Arguments</a:t>
            </a:r>
            <a:endParaRPr lang="en-IN" sz="2800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Arguments are values passed to a function when it is called. They allow functions to receive input data and perform operations using those values.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lnSpc>
                <a:spcPct val="116667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20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Syntax</a:t>
            </a:r>
            <a:endParaRPr lang="en-IN" sz="2000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def </a:t>
            </a:r>
            <a:r>
              <a:rPr lang="en-IN" b="0" i="1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function_name</a:t>
            </a:r>
            <a:r>
              <a:rPr lang="en-IN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(arguments):</a:t>
            </a:r>
            <a:br>
              <a:rPr lang="en-IN" b="0" i="1" spc="1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# function body</a:t>
            </a:r>
            <a:br>
              <a:rPr lang="en-IN" b="0" i="1" spc="1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return value</a:t>
            </a:r>
            <a:endParaRPr lang="en-IN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def </a:t>
            </a:r>
            <a:r>
              <a:rPr lang="en-IN" b="0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function_name</a:t>
            </a: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(arguments): defines a function with optional arguments.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# function body contains the statements to be executed.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return value returns a result from the function. If no return statement is used, it returns None by default.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70183-CDF2-0E19-27C7-7C26A07E2EFA}"/>
              </a:ext>
            </a:extLst>
          </p:cNvPr>
          <p:cNvSpPr txBox="1"/>
          <p:nvPr/>
        </p:nvSpPr>
        <p:spPr>
          <a:xfrm>
            <a:off x="7755872" y="729160"/>
            <a:ext cx="4259344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20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Example: In this example, function checks whether the number passed as an argument is even or odd.</a:t>
            </a:r>
            <a:endParaRPr lang="en-IN" sz="20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pc="12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evenOdd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(x):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% </a:t>
            </a:r>
            <a:r>
              <a:rPr lang="en-IN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IN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"Even"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IN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"Odd"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evenOdd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evenOdd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endParaRPr lang="en-IN" sz="20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48E2B6D-5AD9-9B0D-F0B8-6532F52E6EE1}"/>
              </a:ext>
            </a:extLst>
          </p:cNvPr>
          <p:cNvSpPr txBox="1"/>
          <p:nvPr/>
        </p:nvSpPr>
        <p:spPr>
          <a:xfrm>
            <a:off x="294588" y="218600"/>
            <a:ext cx="5870541" cy="6413038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16667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20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Types of Function Arguments</a:t>
            </a:r>
            <a:endParaRPr lang="en-IN" sz="2000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Python supports different types of arguments that can be passed during a function call.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1. Default argument: </a:t>
            </a:r>
            <a:r>
              <a:rPr lang="en-IN" b="0" i="0" u="sng" spc="12" dirty="0">
                <a:solidFill>
                  <a:srgbClr val="357960"/>
                </a:solidFill>
                <a:effectLst/>
                <a:latin typeface="Nunito" pitchFamily="2" charset="0"/>
                <a:hlinkClick r:id="rId3"/>
              </a:rPr>
              <a:t>Default argument</a:t>
            </a: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use a predefined value when no value is passed during the function call.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pc="12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myFun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y=</a:t>
            </a:r>
            <a:r>
              <a:rPr lang="en-IN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"x: "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x)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"y: "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y)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b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b="0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x:  10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y:  50</a:t>
            </a: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Explanation: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y=50 sets a default value for parameter y and </a:t>
            </a:r>
            <a:r>
              <a:rPr lang="en-IN" b="0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myFun</a:t>
            </a: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(10) passes only one argument.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Since y is not provided, it uses the default value 50.</a:t>
            </a:r>
            <a:endParaRPr lang="en-IN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56658-87E5-3977-A307-9C2FF36BE0D4}"/>
              </a:ext>
            </a:extLst>
          </p:cNvPr>
          <p:cNvSpPr txBox="1"/>
          <p:nvPr/>
        </p:nvSpPr>
        <p:spPr>
          <a:xfrm>
            <a:off x="6525705" y="218600"/>
            <a:ext cx="5371707" cy="5632311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20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2. Keyword Arguments: pass values using parameter names, so argument order does not matter.</a:t>
            </a:r>
            <a:endParaRPr lang="en-IN" sz="20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z="200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spc="12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endParaRPr lang="en-IN" sz="20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20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20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student(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‘PYTHON'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'Practice'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student(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'Practice'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0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‘PYTHON'</a:t>
            </a:r>
            <a:r>
              <a:rPr lang="en-IN" sz="20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br>
              <a:rPr lang="en-IN" sz="20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sz="2000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sz="2000" b="0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20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PYTHON Practice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20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PYTHON Practice</a:t>
            </a: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20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Explanation: </a:t>
            </a:r>
            <a:r>
              <a:rPr lang="en-IN" sz="2000" b="0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fname</a:t>
            </a:r>
            <a:r>
              <a:rPr lang="en-IN" sz="20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and </a:t>
            </a:r>
            <a:r>
              <a:rPr lang="en-IN" sz="2000" b="0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lname</a:t>
            </a:r>
            <a:r>
              <a:rPr lang="en-IN" sz="20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are passed using parameter names and arguments can be provided in any order.</a:t>
            </a:r>
            <a:endParaRPr lang="en-IN" sz="20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723BD-2CF6-802A-D7BF-1AB3F467A62D}"/>
              </a:ext>
            </a:extLst>
          </p:cNvPr>
          <p:cNvSpPr txBox="1"/>
          <p:nvPr/>
        </p:nvSpPr>
        <p:spPr>
          <a:xfrm>
            <a:off x="266308" y="148615"/>
            <a:ext cx="11087492" cy="656077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3. Positional Arguments: values are assigned to parameters based on their order in the function call.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spc="12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nameAge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(name, age):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6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"Hi, I am"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name)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6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"My age is "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age)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"Case-1:"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nameAge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"Olivia"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"Case-2:"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nameAge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"Olivia"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b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sz="1600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sz="1600" b="0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Case-1: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Hi, I am Olivia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My age is  27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Case-2: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Hi, I am 27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My age is  Olivia</a:t>
            </a: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Explanation: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In Case-1, values match the correct parameters.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In Case-2, values are swapped because the order changed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C91AF50-023C-F5B1-A88C-58028FEE22DD}"/>
              </a:ext>
            </a:extLst>
          </p:cNvPr>
          <p:cNvSpPr txBox="1"/>
          <p:nvPr/>
        </p:nvSpPr>
        <p:spPr>
          <a:xfrm>
            <a:off x="370002" y="205758"/>
            <a:ext cx="11536051" cy="6011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4. Arbitrary Arguments: allow functions to accept multiple values. This is done using two special symbols:</a:t>
            </a:r>
            <a:endParaRPr lang="en-IN" sz="14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400" b="1" i="0" u="sng" spc="12" dirty="0">
                <a:solidFill>
                  <a:srgbClr val="357960"/>
                </a:solidFill>
                <a:effectLst/>
                <a:latin typeface="Nunito" pitchFamily="2" charset="0"/>
                <a:hlinkClick r:id="rId3"/>
              </a:rPr>
              <a:t>*</a:t>
            </a:r>
            <a:r>
              <a:rPr lang="en-IN" sz="1400" b="1" i="0" u="sng" spc="12" dirty="0" err="1">
                <a:solidFill>
                  <a:srgbClr val="357960"/>
                </a:solidFill>
                <a:effectLst/>
                <a:latin typeface="Nunito" pitchFamily="2" charset="0"/>
                <a:hlinkClick r:id="rId3"/>
              </a:rPr>
              <a:t>args</a:t>
            </a:r>
            <a:r>
              <a:rPr lang="en-IN" sz="1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collects extra positional arguments as a tuple.</a:t>
            </a:r>
            <a:endParaRPr lang="en-IN" sz="14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**</a:t>
            </a:r>
            <a:r>
              <a:rPr lang="en-IN" sz="1400" b="1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kwargs</a:t>
            </a:r>
            <a:r>
              <a:rPr lang="en-IN" sz="1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collects extra keyword arguments as a dictionary.</a:t>
            </a:r>
            <a:endParaRPr lang="en-IN" sz="14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spc="12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myFun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IN" sz="1400" b="1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**</a:t>
            </a:r>
            <a:r>
              <a:rPr lang="en-IN" sz="1400" b="1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400" b="1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"Non-Keyword Arguments (*</a:t>
            </a:r>
            <a:r>
              <a:rPr lang="en-IN" sz="1400" b="1" spc="12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):"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400" b="1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IN" sz="1400" b="1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1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400" b="1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"Keyword Arguments (**</a:t>
            </a:r>
            <a:r>
              <a:rPr lang="en-IN" sz="1400" b="1" spc="12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):"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400" b="1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key, value </a:t>
            </a:r>
            <a:r>
              <a:rPr lang="en-IN" sz="1400" b="1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kwargs.items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IN" sz="1400" b="1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{key}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{value}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400" b="1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'Hey'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'Welcome'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first=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‘TO CLASS'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mid=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'for'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last=</a:t>
            </a:r>
            <a:r>
              <a:rPr lang="en-IN" sz="1400" b="1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‘LECTURE'</a:t>
            </a:r>
            <a:r>
              <a:rPr lang="en-IN" sz="1400" b="1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1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br>
              <a:rPr lang="en-IN" sz="1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sz="1400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sz="1400" b="1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Non-Keyword Arguments (*</a:t>
            </a:r>
            <a:r>
              <a:rPr lang="en-IN" sz="1400" b="1" i="0" spc="10" dirty="0" err="1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Hey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Welcome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Keyword Arguments (**</a:t>
            </a:r>
            <a:r>
              <a:rPr lang="en-IN" sz="1400" b="1" i="0" spc="10" dirty="0" err="1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first == </a:t>
            </a:r>
            <a:r>
              <a:rPr lang="en-IN" sz="1400" b="1" spc="10" dirty="0">
                <a:solidFill>
                  <a:srgbClr val="273239"/>
                </a:solidFill>
                <a:latin typeface="Consolas" panose="020B0609020204030204" pitchFamily="49" charset="0"/>
              </a:rPr>
              <a:t>TO CLASS</a:t>
            </a:r>
            <a:endParaRPr lang="en-IN" sz="1400" b="1" i="0" spc="1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mid == for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4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last == </a:t>
            </a:r>
            <a:r>
              <a:rPr lang="en-IN" sz="1400" b="1" spc="10" dirty="0">
                <a:solidFill>
                  <a:srgbClr val="273239"/>
                </a:solidFill>
                <a:latin typeface="Consolas" panose="020B0609020204030204" pitchFamily="49" charset="0"/>
              </a:rPr>
              <a:t>LECTURE</a:t>
            </a:r>
            <a:endParaRPr lang="en-IN" sz="1400" b="1" i="0" spc="1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99E7F-C2D8-D645-F9D3-E0103AE97ED0}"/>
              </a:ext>
            </a:extLst>
          </p:cNvPr>
          <p:cNvSpPr txBox="1"/>
          <p:nvPr/>
        </p:nvSpPr>
        <p:spPr>
          <a:xfrm>
            <a:off x="5811625" y="4379825"/>
            <a:ext cx="6094428" cy="261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Explanation: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*</a:t>
            </a:r>
            <a:r>
              <a:rPr lang="en-IN" sz="1600" b="1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args</a:t>
            </a: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stores extra positional arguments.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**</a:t>
            </a:r>
            <a:r>
              <a:rPr lang="en-IN" sz="1600" b="1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kwargs</a:t>
            </a: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stores extra keyword arguments.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loop prints all positional and keyword values separately.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>
              <a:buNone/>
            </a:pPr>
            <a:br>
              <a:rPr lang="en-IN" sz="2400" b="1" dirty="0"/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9765D8F-460F-61C8-076E-22539CD38BFA}"/>
              </a:ext>
            </a:extLst>
          </p:cNvPr>
          <p:cNvSpPr txBox="1"/>
          <p:nvPr/>
        </p:nvSpPr>
        <p:spPr>
          <a:xfrm>
            <a:off x="219173" y="192853"/>
            <a:ext cx="6094428" cy="375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97222"/>
              </a:lnSpc>
              <a:buNone/>
            </a:pPr>
            <a:r>
              <a:rPr lang="en-IN" sz="2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Function within Functions</a:t>
            </a:r>
            <a:endParaRPr lang="en-IN" sz="2400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A function defined inside another function is called an </a:t>
            </a:r>
            <a:r>
              <a:rPr lang="en-IN" sz="1600" b="1" i="0" u="sng" spc="12" dirty="0">
                <a:solidFill>
                  <a:srgbClr val="357960"/>
                </a:solidFill>
                <a:effectLst/>
                <a:latin typeface="Nunito" pitchFamily="2" charset="0"/>
                <a:hlinkClick r:id="rId3"/>
              </a:rPr>
              <a:t>inner function</a:t>
            </a: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 (or nested function). It is used to organize related logic and access variables from the outer function.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spc="12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 = 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'I love </a:t>
            </a:r>
            <a:r>
              <a:rPr lang="en-IN" sz="1600" spc="12" dirty="0">
                <a:solidFill>
                  <a:srgbClr val="AA1111"/>
                </a:solidFill>
                <a:latin typeface="Consolas" panose="020B0609020204030204" pitchFamily="49" charset="0"/>
              </a:rPr>
              <a:t>Python</a:t>
            </a:r>
            <a:r>
              <a:rPr lang="en-IN" sz="1600" spc="12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60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spc="12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f2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IN" sz="16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f2()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f1()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b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sz="1600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sz="1600" b="0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I love Python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7E24BB-050C-66D0-3CF0-A72D304099A2}"/>
              </a:ext>
            </a:extLst>
          </p:cNvPr>
          <p:cNvSpPr txBox="1"/>
          <p:nvPr/>
        </p:nvSpPr>
        <p:spPr>
          <a:xfrm>
            <a:off x="6228760" y="192853"/>
            <a:ext cx="5744067" cy="435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97222"/>
              </a:lnSpc>
              <a:buNone/>
            </a:pPr>
            <a:r>
              <a:rPr lang="en-IN" sz="2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Return Statement</a:t>
            </a:r>
            <a:endParaRPr lang="en-IN" sz="2400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0" i="0" u="sng" spc="12" dirty="0">
                <a:solidFill>
                  <a:srgbClr val="357960"/>
                </a:solidFill>
                <a:effectLst/>
                <a:latin typeface="Nunito" pitchFamily="2" charset="0"/>
                <a:hlinkClick r:id="rId4"/>
              </a:rPr>
              <a:t>Return </a:t>
            </a: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is used to end a function and send a value back to the caller. It can return any data type, multiple values (packed into a tuple), or None if no value is given.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lnSpc>
                <a:spcPct val="116667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Syntax</a:t>
            </a:r>
            <a:endParaRPr lang="en-IN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6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return [expression]</a:t>
            </a:r>
            <a:endParaRPr lang="en-IN" sz="16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Parameters: expression is the value returned by the function. If no value is returned, it returns None by default.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spc="12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sq_value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IN" sz="160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IN" sz="160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sq_value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 rtl="0" fontAlgn="base">
              <a:buNone/>
            </a:pPr>
            <a:r>
              <a:rPr lang="en-IN" sz="160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sq_value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IN" sz="160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60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z="160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04AE3C-43F1-EFD8-2CF7-3B2403BC7E1B}"/>
              </a:ext>
            </a:extLst>
          </p:cNvPr>
          <p:cNvSpPr txBox="1"/>
          <p:nvPr/>
        </p:nvSpPr>
        <p:spPr>
          <a:xfrm>
            <a:off x="3754226" y="4079824"/>
            <a:ext cx="6094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sz="1600" b="1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4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1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16</a:t>
            </a: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Explanation: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1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sq_value</a:t>
            </a: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(</a:t>
            </a:r>
            <a:r>
              <a:rPr lang="en-IN" sz="1600" b="1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num</a:t>
            </a: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) accepts a number as input.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1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num</a:t>
            </a: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**2 calculates the square of the number.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return sends the result back to the caller.</a:t>
            </a:r>
            <a:endParaRPr lang="en-IN" sz="1600" b="1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A2CF37-B1B4-3FC9-BE81-00C3F6C23E1D}"/>
              </a:ext>
            </a:extLst>
          </p:cNvPr>
          <p:cNvCxnSpPr/>
          <p:nvPr/>
        </p:nvCxnSpPr>
        <p:spPr>
          <a:xfrm>
            <a:off x="6165128" y="329938"/>
            <a:ext cx="0" cy="40252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ED7BCDD-D689-9B1C-87C1-ABD36C25A882}"/>
              </a:ext>
            </a:extLst>
          </p:cNvPr>
          <p:cNvSpPr txBox="1"/>
          <p:nvPr/>
        </p:nvSpPr>
        <p:spPr>
          <a:xfrm>
            <a:off x="426564" y="240409"/>
            <a:ext cx="6094428" cy="653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97222"/>
              </a:lnSpc>
              <a:buNone/>
            </a:pPr>
            <a:r>
              <a:rPr lang="en-IN" sz="2400" b="1" i="0" spc="12" dirty="0">
                <a:solidFill>
                  <a:srgbClr val="273239"/>
                </a:solidFill>
                <a:effectLst/>
                <a:latin typeface="Nunito" pitchFamily="2" charset="0"/>
              </a:rPr>
              <a:t>Pass by Reference and Pass by Value</a:t>
            </a:r>
            <a:endParaRPr lang="en-IN" sz="2400" b="1" i="0" spc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Variables refer to objects. Function behaviour depends on whether the object is mutable or immutable.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Mutable objects like lists can be modified inside functions.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Immutable objects like integers and strings remain unchanged.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spc="12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myFun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(x):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x[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20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[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77008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spc="12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myFun2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(x):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x = 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20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​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IN" sz="1600" b="0" i="0" spc="12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myFun2(a)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rtl="0" fontAlgn="base">
              <a:buNone/>
            </a:pPr>
            <a:r>
              <a:rPr lang="en-IN" sz="1600" b="0" i="0" spc="12" dirty="0">
                <a:solidFill>
                  <a:srgbClr val="3300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600" b="0" i="0" spc="12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</a:t>
            </a:r>
            <a:endParaRPr lang="en-IN" sz="1600" b="0" i="0" spc="1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b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IN" sz="1600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sz="1600" b="0" i="0" spc="12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[20, 11, 12, 13]</a:t>
            </a:r>
          </a:p>
          <a:p>
            <a:pPr marL="0" marR="0" indent="0" algn="l" fontAlgn="base">
              <a:spcAft>
                <a:spcPts val="750"/>
              </a:spcAft>
              <a:buNone/>
            </a:pPr>
            <a:r>
              <a:rPr lang="en-IN" sz="1600" b="0" i="0" spc="1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407856-79F1-6E7D-B7A4-F902028491AC}"/>
              </a:ext>
            </a:extLst>
          </p:cNvPr>
          <p:cNvSpPr txBox="1"/>
          <p:nvPr/>
        </p:nvSpPr>
        <p:spPr>
          <a:xfrm>
            <a:off x="4885442" y="4056498"/>
            <a:ext cx="6094428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1600" b="1" i="0" spc="10" dirty="0">
                <a:solidFill>
                  <a:srgbClr val="273239"/>
                </a:solidFill>
                <a:effectLst/>
                <a:latin typeface="Nunito" pitchFamily="2" charset="0"/>
              </a:rPr>
              <a:t>Explanation</a:t>
            </a: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: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0" i="0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myFun</a:t>
            </a: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(x) modifies the first element of the list and lists are mutable, so the original list changes.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1600" b="0" i="0" spc="12" dirty="0">
                <a:solidFill>
                  <a:srgbClr val="273239"/>
                </a:solidFill>
                <a:effectLst/>
                <a:latin typeface="Nunito" pitchFamily="2" charset="0"/>
              </a:rPr>
              <a:t>myFun2(x) assigns a new value to x. Integers are immutable, so the original value of a remains unchanged.</a:t>
            </a:r>
            <a:endParaRPr lang="en-IN" sz="1600" b="0" i="0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marR="0" indent="0" algn="l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600" b="1" i="1" spc="10" dirty="0">
                <a:solidFill>
                  <a:srgbClr val="273239"/>
                </a:solidFill>
                <a:effectLst/>
                <a:latin typeface="Nunito" pitchFamily="2" charset="0"/>
              </a:rPr>
              <a:t>Note</a:t>
            </a:r>
            <a:r>
              <a:rPr lang="en-IN" sz="16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: Python uses pass-by-object-reference, where functions receive references to objects instead of actual copies.</a:t>
            </a:r>
            <a:endParaRPr lang="en-IN" sz="16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5827" y="490194"/>
            <a:ext cx="5641848" cy="5029200"/>
          </a:xfrm>
        </p:spPr>
        <p:txBody>
          <a:bodyPr/>
          <a:lstStyle/>
          <a:p>
            <a:r>
              <a:rPr lang="en-US" b="1" dirty="0"/>
              <a:t>Thank you….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71F0D-7292-89EE-1953-734B6AAAE6F8}"/>
              </a:ext>
            </a:extLst>
          </p:cNvPr>
          <p:cNvSpPr txBox="1"/>
          <p:nvPr/>
        </p:nvSpPr>
        <p:spPr>
          <a:xfrm>
            <a:off x="160256" y="5840500"/>
            <a:ext cx="314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Sahil shaikh</a:t>
            </a:r>
          </a:p>
          <a:p>
            <a:r>
              <a:rPr lang="en-US" dirty="0"/>
              <a:t>Python Trainer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{8371DA0D-08BB-44B6-BE5F-3325227EB12A}TF1ed9553b-00c4-4092-846a-c8f7f2908f3beecd942f_win32-8e33096c3cfc</Template>
  <TotalTime>119</TotalTime>
  <Words>1140</Words>
  <Application>Microsoft Office PowerPoint</Application>
  <PresentationFormat>Widescreen</PresentationFormat>
  <Paragraphs>169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Gill Sans Nova Light</vt:lpstr>
      <vt:lpstr>Nunito</vt:lpstr>
      <vt:lpstr>Sagona Book</vt:lpstr>
      <vt:lpstr>Times New Roman</vt:lpstr>
      <vt:lpstr>Custom</vt:lpstr>
      <vt:lpstr>Python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Shaikh</dc:creator>
  <cp:lastModifiedBy>Sahil Shaikh</cp:lastModifiedBy>
  <cp:revision>2</cp:revision>
  <dcterms:created xsi:type="dcterms:W3CDTF">2026-10-14T01:37:45Z</dcterms:created>
  <dcterms:modified xsi:type="dcterms:W3CDTF">2026-10-14T06:16:11Z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